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66a2c7b-65a2-7f62-90a2-c4097e4c8ec0}">
          <p14:sldIdLst>
            <p14:sldId id="256"/>
          </p14:sldIdLst>
        </p14:section>
        <p14:section name="Distribution" id="{8f3dbc6c-3e7b-70b7-ec44-1e39aa273fd1}">
          <p14:sldIdLst>
            <p14:sldId id="257"/>
          </p14:sldIdLst>
        </p14:section>
        <p14:section name="Makeover" id="{15effdef-af71-0edc-337c-cfee0e9f9dac}">
          <p14:sldIdLst>
            <p14:sldId id="258"/>
          </p14:sldIdLst>
        </p14:section>
        <p14:section name="Finding" id="{a774c569-b082-f67f-8a82-186bcca055ab}">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The last two digits of my registration number leave a remainder of 7 when divided by 8, so my variant is Balochistan urban. From the PSLM 2019-20 person file I kept people aged 15 to 64 with positive annual earnings: 486 earners. The person file has no weights, so I attached hhweight, province and area from the household file by hhid, and every number I show is weighted. (About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weighted histogram on a log scale, bins 0.1 log units wide, height is density per log10 unit so the bars' area adds to one. The axis is labelled in rupees. Most earners make between Rs 100,000 and Rs 600,000 a year. The weighted median is Rs 250,000; the 90th percentile is Rs 540,000, 5.62 times the 10th percentile of Rs 96,000. Here the weighted median is LOWER than the unweighted one, Rs 264,000. The subset over-samples small districts, and in urban Balochistan several of them earn more than average; one district is 5.8% of the sample but 0.5% of the population. Weights shrink them and give the large, lower-earning districts their true share. No earner falls outside the Rs 10,000 to 10 million range.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R's default. A few earners above Rs 1 million stretch the linear axis so almost every point is crushed into the bottom, labels read 3e+06 instead of rupees, and opaque dots at whole ages form solid strips. Four changes. One: a log scale labelled in rupees spreads proportional differences evenly. Two: alpha 0.2 and horizontal jitter of at most 0.4 years fix overplotting, so darkness shows density, including heaping at round figures. Three: weighted means for each five-year band, joined by a line, show the conditional mean, read by position on a common scale, the most accurate channel. Four: less non-data ink and a title that states the finding. What the default shows better: how far the very top earners are from everyone else in rupees. (About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main finding. Weighted mean earnings rise from Rs 113,382 at 15 to 19 to about Rs 308,000 at 25 to 29, stay roughly flat near Rs 300,000 to 317,000 until 44, then rise to Rs 399,250 at 50 to 54. The highest mean, Rs 476,422 at 60 to 64, is a thin band of only 16 earners, shown hollow, so I would not trust it as the peak; among bands with 30 or more earners the peak is 50 to 54. Hollow markers also flag 15 to 19 and 55 to 59. Within every band earnings vary hugely, so age explains little of who earns what, and as one survey year it compares cohorts, not one person ageing. The Python band table matches R to the rupee. Thank you.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48640"/>
          </a:xfrm>
          <a:prstGeom prst="rect">
            <a:avLst/>
          </a:prstGeom>
          <a:noFill/>
          <a:ln/>
        </p:spPr>
        <p:txBody>
          <a:bodyPr wrap="square" rtlCol="0"/>
          <a:lstStyle>
            <a:lvl1pPr algn="l" indent="0" marL="0">
              <a:buNone/>
              <a:defRPr lang="en-US" sz="2400" b="1" dirty="0">
                <a:solidFill>
                  <a:schemeClr val="tx2"/>
                </a:solidFill>
                <a:latin typeface="+mj-lt" pitchFamily="34" charset="0"/>
                <a:ea typeface="+mj-lt" pitchFamily="34" charset="-122"/>
                <a:cs typeface="+mj-lt" pitchFamily="34" charset="-120"/>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143000"/>
            <a:ext cx="5120640" cy="1097280"/>
          </a:xfrm>
          <a:prstGeom prst="rect">
            <a:avLst/>
          </a:prstGeom>
          <a:noFill/>
          <a:ln/>
        </p:spPr>
        <p:txBody>
          <a:bodyPr wrap="square" lIns="0" tIns="0" rIns="0" bIns="0" rtlCol="0" anchor="t"/>
          <a:lstStyle/>
          <a:p>
            <a:pPr indent="0" marL="0">
              <a:buNone/>
            </a:pPr>
            <a:r>
              <a:rPr lang="en-US" sz="3600" b="1" dirty="0">
                <a:solidFill>
                  <a:schemeClr val="tx2"/>
                </a:solidFill>
                <a:latin typeface="+mj-lt" pitchFamily="34" charset="0"/>
                <a:ea typeface="+mj-lt" pitchFamily="34" charset="-122"/>
                <a:cs typeface="+mj-lt" pitchFamily="34" charset="-120"/>
              </a:rPr>
              <a:t>Earnings and Age in Urban Balochistan</a:t>
            </a:r>
            <a:endParaRPr lang="en-US" sz="3600" dirty="0"/>
          </a:p>
        </p:txBody>
      </p:sp>
      <p:sp>
        <p:nvSpPr>
          <p:cNvPr id="3" name="Text 1"/>
          <p:cNvSpPr txBox="1"/>
          <p:nvPr/>
        </p:nvSpPr>
        <p:spPr>
          <a:xfrm>
            <a:off x="548640" y="2286000"/>
            <a:ext cx="5120640" cy="365760"/>
          </a:xfrm>
          <a:prstGeom prst="rect">
            <a:avLst/>
          </a:prstGeom>
          <a:noFill/>
          <a:ln/>
        </p:spPr>
        <p:txBody>
          <a:bodyPr wrap="square" lIns="0" tIns="0" rIns="0" bIns="0" rtlCol="0" anchor="ctr"/>
          <a:lstStyle/>
          <a:p>
            <a:pPr indent="0" marL="0">
              <a:buNone/>
            </a:pPr>
            <a:r>
              <a:rPr lang="en-US" sz="1600" dirty="0">
                <a:solidFill>
                  <a:srgbClr val="5B6475"/>
                </a:solidFill>
              </a:rPr>
              <a:t>Evidence from the PSLM 2019–20 person file</a:t>
            </a:r>
            <a:endParaRPr lang="en-US" sz="1600" dirty="0"/>
          </a:p>
        </p:txBody>
      </p:sp>
      <p:sp>
        <p:nvSpPr>
          <p:cNvPr id="4" name="Text 2"/>
          <p:cNvSpPr txBox="1"/>
          <p:nvPr/>
        </p:nvSpPr>
        <p:spPr>
          <a:xfrm>
            <a:off x="548640" y="3063240"/>
            <a:ext cx="5120640" cy="1005840"/>
          </a:xfrm>
          <a:prstGeom prst="rect">
            <a:avLst/>
          </a:prstGeom>
          <a:noFill/>
          <a:ln/>
        </p:spPr>
        <p:txBody>
          <a:bodyPr wrap="square" lIns="0" tIns="0" rIns="0" bIns="0" rtlCol="0" anchor="t"/>
          <a:lstStyle/>
          <a:p>
            <a:pPr indent="0" marL="0">
              <a:spcAft>
                <a:spcPts val="300"/>
              </a:spcAft>
              <a:buNone/>
            </a:pPr>
            <a:r>
              <a:rPr lang="en-US" sz="1300" dirty="0">
                <a:solidFill>
                  <a:srgbClr val="5B6475"/>
                </a:solidFill>
              </a:rPr>
              <a:t>ECO346 Data Visualization Techniques for Economists</a:t>
            </a:r>
            <a:endParaRPr lang="en-US" sz="1300" dirty="0"/>
          </a:p>
          <a:p>
            <a:pPr indent="0" marL="0">
              <a:spcAft>
                <a:spcPts val="300"/>
              </a:spcAft>
              <a:buNone/>
            </a:pPr>
            <a:r>
              <a:rPr lang="en-US" sz="1300" dirty="0">
                <a:solidFill>
                  <a:srgbClr val="5B6475"/>
                </a:solidFill>
              </a:rPr>
              <a:t>Assignment 1  |  Section A</a:t>
            </a:r>
            <a:endParaRPr lang="en-US" sz="1300" dirty="0"/>
          </a:p>
          <a:p>
            <a:pPr indent="0" marL="0">
              <a:spcAft>
                <a:spcPts val="300"/>
              </a:spcAft>
              <a:buNone/>
            </a:pPr>
            <a:r>
              <a:rPr lang="en-US" sz="1300" dirty="0">
                <a:solidFill>
                  <a:srgbClr val="5B6475"/>
                </a:solidFill>
              </a:rPr>
              <a:t>Dr. Rafi Amir-ud-Din</a:t>
            </a:r>
            <a:endParaRPr lang="en-US" sz="1300" dirty="0"/>
          </a:p>
        </p:txBody>
      </p:sp>
      <p:sp>
        <p:nvSpPr>
          <p:cNvPr id="5" name="variant panel"/>
          <p:cNvSpPr/>
          <p:nvPr/>
        </p:nvSpPr>
        <p:spPr>
          <a:xfrm>
            <a:off x="6035040" y="1143000"/>
            <a:ext cx="2651760" cy="3108960"/>
          </a:xfrm>
          <a:prstGeom prst="rect">
            <a:avLst/>
          </a:prstGeom>
          <a:solidFill>
            <a:schemeClr val="bg2"/>
          </a:solidFill>
          <a:ln w="12700">
            <a:solidFill>
              <a:schemeClr val="bg2"/>
            </a:solidFill>
            <a:prstDash val="solid"/>
          </a:ln>
        </p:spPr>
      </p:sp>
      <p:sp>
        <p:nvSpPr>
          <p:cNvPr id="6" name="Text 4"/>
          <p:cNvSpPr txBox="1"/>
          <p:nvPr/>
        </p:nvSpPr>
        <p:spPr>
          <a:xfrm>
            <a:off x="6263640" y="1325880"/>
            <a:ext cx="2194560" cy="411480"/>
          </a:xfrm>
          <a:prstGeom prst="rect">
            <a:avLst/>
          </a:prstGeom>
          <a:noFill/>
          <a:ln/>
        </p:spPr>
        <p:txBody>
          <a:bodyPr wrap="square" lIns="0" tIns="0" rIns="0" bIns="0" rtlCol="0" anchor="ctr"/>
          <a:lstStyle/>
          <a:p>
            <a:pPr indent="0" marL="0">
              <a:buNone/>
            </a:pPr>
            <a:r>
              <a:rPr lang="en-US" sz="2000" b="1" dirty="0">
                <a:solidFill>
                  <a:srgbClr val="C0392B"/>
                </a:solidFill>
                <a:latin typeface="+mj-lt" pitchFamily="34" charset="0"/>
                <a:ea typeface="+mj-lt" pitchFamily="34" charset="-122"/>
                <a:cs typeface="+mj-lt" pitchFamily="34" charset="-120"/>
              </a:rPr>
              <a:t>Variant 7</a:t>
            </a:r>
            <a:endParaRPr lang="en-US" sz="2000" dirty="0"/>
          </a:p>
        </p:txBody>
      </p:sp>
      <p:sp>
        <p:nvSpPr>
          <p:cNvPr id="7" name="Text 5"/>
          <p:cNvSpPr txBox="1"/>
          <p:nvPr/>
        </p:nvSpPr>
        <p:spPr>
          <a:xfrm>
            <a:off x="6263640" y="1737360"/>
            <a:ext cx="2194560" cy="274320"/>
          </a:xfrm>
          <a:prstGeom prst="rect">
            <a:avLst/>
          </a:prstGeom>
          <a:noFill/>
          <a:ln/>
        </p:spPr>
        <p:txBody>
          <a:bodyPr wrap="square" lIns="0" tIns="0" rIns="0" bIns="0" rtlCol="0" anchor="ctr"/>
          <a:lstStyle/>
          <a:p>
            <a:pPr indent="0" marL="0">
              <a:buNone/>
            </a:pPr>
            <a:r>
              <a:rPr lang="en-US" sz="1200" dirty="0">
                <a:solidFill>
                  <a:srgbClr val="5B6475"/>
                </a:solidFill>
              </a:rPr>
              <a:t>last two digits ÷ 8 leave 7</a:t>
            </a:r>
            <a:endParaRPr lang="en-US" sz="1200" dirty="0"/>
          </a:p>
        </p:txBody>
      </p:sp>
      <p:sp>
        <p:nvSpPr>
          <p:cNvPr id="8" name="Text 6"/>
          <p:cNvSpPr txBox="1"/>
          <p:nvPr/>
        </p:nvSpPr>
        <p:spPr>
          <a:xfrm>
            <a:off x="6263640" y="2194560"/>
            <a:ext cx="2194560" cy="1920240"/>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rPr>
              <a:t>Area</a:t>
            </a:r>
            <a:endParaRPr lang="en-US" sz="1300" dirty="0"/>
          </a:p>
          <a:p>
            <a:pPr indent="0" marL="0">
              <a:spcAft>
                <a:spcPts val="200"/>
              </a:spcAft>
              <a:buNone/>
            </a:pPr>
            <a:r>
              <a:rPr lang="en-US" sz="1300" dirty="0">
                <a:solidFill>
                  <a:srgbClr val="344054"/>
                </a:solidFill>
              </a:rPr>
              <a:t>Balochistan, urban</a:t>
            </a:r>
            <a:endParaRPr lang="en-US" sz="1300" dirty="0"/>
          </a:p>
          <a:p>
            <a:pPr indent="0" marL="0">
              <a:spcAft>
                <a:spcPts val="200"/>
              </a:spcAft>
              <a:buNone/>
            </a:pPr>
            <a:r>
              <a:rPr lang="en-US" sz="1300" b="1" dirty="0">
                <a:solidFill>
                  <a:srgbClr val="1F2A44"/>
                </a:solidFill>
              </a:rPr>
              <a:t>Sample</a:t>
            </a:r>
            <a:endParaRPr lang="en-US" sz="1300" dirty="0"/>
          </a:p>
          <a:p>
            <a:pPr indent="0" marL="0">
              <a:spcAft>
                <a:spcPts val="200"/>
              </a:spcAft>
              <a:buNone/>
            </a:pPr>
            <a:r>
              <a:rPr lang="en-US" sz="1300" dirty="0">
                <a:solidFill>
                  <a:srgbClr val="344054"/>
                </a:solidFill>
              </a:rPr>
              <a:t>486 earners aged 15–64</a:t>
            </a:r>
            <a:endParaRPr lang="en-US" sz="1300" dirty="0"/>
          </a:p>
          <a:p>
            <a:pPr indent="0" marL="0">
              <a:spcAft>
                <a:spcPts val="200"/>
              </a:spcAft>
              <a:buNone/>
            </a:pPr>
            <a:r>
              <a:rPr lang="en-US" sz="1300" b="1" dirty="0">
                <a:solidFill>
                  <a:srgbClr val="1F2A44"/>
                </a:solidFill>
              </a:rPr>
              <a:t>Weighting</a:t>
            </a:r>
            <a:endParaRPr lang="en-US" sz="1300" dirty="0"/>
          </a:p>
          <a:p>
            <a:pPr indent="0" marL="0">
              <a:spcAft>
                <a:spcPts val="200"/>
              </a:spcAft>
              <a:buNone/>
            </a:pPr>
            <a:r>
              <a:rPr lang="en-US" sz="1300" dirty="0">
                <a:solidFill>
                  <a:srgbClr val="344054"/>
                </a:solidFill>
              </a:rPr>
              <a:t>Household weight (hhweight)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48640"/>
          </a:xfrm>
          <a:prstGeom prst="rect">
            <a:avLst/>
          </a:prstGeom>
          <a:noFill/>
          <a:ln/>
        </p:spPr>
        <p:txBody>
          <a:bodyPr wrap="square" lIns="0" tIns="0" rIns="0" bIns="0" rtlCol="0" anchor="t"/>
          <a:lstStyle/>
          <a:p>
            <a:pPr algn="l" indent="0" marL="0">
              <a:buNone/>
            </a:pPr>
            <a:r>
              <a:rPr lang="en-US" sz="2400" b="1" dirty="0">
                <a:solidFill>
                  <a:schemeClr val="tx2"/>
                </a:solidFill>
                <a:latin typeface="+mj-lt" pitchFamily="34" charset="0"/>
                <a:ea typeface="+mj-lt" pitchFamily="34" charset="-122"/>
                <a:cs typeface="+mj-lt" pitchFamily="34" charset="-120"/>
              </a:rPr>
              <a:t>Half of urban Balochistan earners make under Rs 250,000 a year</a:t>
            </a:r>
            <a:endParaRPr lang="en-US" sz="2400" dirty="0"/>
          </a:p>
        </p:txBody>
      </p:sp>
      <p:pic>
        <p:nvPicPr>
          <p:cNvPr id="3" name="fig distribution" descr="Weighted histogram of annual earnings on a log scale with median and 90th percentil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1005840"/>
            <a:ext cx="5669280" cy="3465576"/>
          </a:xfrm>
          <a:prstGeom prst="rect">
            <a:avLst/>
          </a:prstGeom>
        </p:spPr>
      </p:pic>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309360" y="1188720"/>
          <a:ext cx="2377440" cy="914400"/>
        </p:xfrm>
        <a:graphic>
          <a:graphicData uri="http://schemas.openxmlformats.org/drawingml/2006/table">
            <a:tbl>
              <a:tblPr/>
              <a:tblGrid>
                <a:gridCol w="1426464"/>
                <a:gridCol w="950976"/>
              </a:tblGrid>
              <a:tr h="310896">
                <a:tc>
                  <a:txBody>
                    <a:bodyPr/>
                    <a:lstStyle/>
                    <a:p>
                      <a:pPr indent="0" marL="0">
                        <a:buNone/>
                      </a:pPr>
                      <a:r>
                        <a:rPr lang="en-US" sz="1200" dirty="0">
                          <a:solidFill>
                            <a:srgbClr val="344054"/>
                          </a:solidFill>
                          <a:latin typeface="Calibri" pitchFamily="34" charset="0"/>
                          <a:ea typeface="Calibri" pitchFamily="34" charset="-122"/>
                          <a:cs typeface="Calibri" pitchFamily="34" charset="-120"/>
                        </a:rPr>
                        <a:t>Earners</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c>
                  <a:txBody>
                    <a:bodyPr/>
                    <a:lstStyle/>
                    <a:p>
                      <a:pPr algn="r" indent="0" marL="0">
                        <a:buNone/>
                      </a:pPr>
                      <a:r>
                        <a:rPr lang="en-US" sz="1200" b="1" dirty="0">
                          <a:solidFill>
                            <a:srgbClr val="1F2A44"/>
                          </a:solidFill>
                          <a:latin typeface="Calibri" pitchFamily="34" charset="0"/>
                          <a:ea typeface="Calibri" pitchFamily="34" charset="-122"/>
                          <a:cs typeface="Calibri" pitchFamily="34" charset="-120"/>
                        </a:rPr>
                        <a:t>486</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r>
              <a:tr h="310896">
                <a:tc>
                  <a:txBody>
                    <a:bodyPr/>
                    <a:lstStyle/>
                    <a:p>
                      <a:pPr indent="0" marL="0">
                        <a:buNone/>
                      </a:pPr>
                      <a:r>
                        <a:rPr lang="en-US" sz="1200" dirty="0">
                          <a:solidFill>
                            <a:srgbClr val="344054"/>
                          </a:solidFill>
                          <a:latin typeface="Calibri" pitchFamily="34" charset="0"/>
                          <a:ea typeface="Calibri" pitchFamily="34" charset="-122"/>
                          <a:cs typeface="Calibri" pitchFamily="34" charset="-120"/>
                        </a:rPr>
                        <a:t>Weighted median</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c>
                  <a:txBody>
                    <a:bodyPr/>
                    <a:lstStyle/>
                    <a:p>
                      <a:pPr algn="r" indent="0" marL="0">
                        <a:buNone/>
                      </a:pPr>
                      <a:r>
                        <a:rPr lang="en-US" sz="1200" b="1" dirty="0">
                          <a:solidFill>
                            <a:srgbClr val="1F2A44"/>
                          </a:solidFill>
                          <a:latin typeface="Calibri" pitchFamily="34" charset="0"/>
                          <a:ea typeface="Calibri" pitchFamily="34" charset="-122"/>
                          <a:cs typeface="Calibri" pitchFamily="34" charset="-120"/>
                        </a:rPr>
                        <a:t>Rs 250,000</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r>
              <a:tr h="310896">
                <a:tc>
                  <a:txBody>
                    <a:bodyPr/>
                    <a:lstStyle/>
                    <a:p>
                      <a:pPr indent="0" marL="0">
                        <a:buNone/>
                      </a:pPr>
                      <a:r>
                        <a:rPr lang="en-US" sz="1200" dirty="0">
                          <a:solidFill>
                            <a:srgbClr val="344054"/>
                          </a:solidFill>
                          <a:latin typeface="Calibri" pitchFamily="34" charset="0"/>
                          <a:ea typeface="Calibri" pitchFamily="34" charset="-122"/>
                          <a:cs typeface="Calibri" pitchFamily="34" charset="-120"/>
                        </a:rPr>
                        <a:t>Unweighted median</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c>
                  <a:txBody>
                    <a:bodyPr/>
                    <a:lstStyle/>
                    <a:p>
                      <a:pPr algn="r" indent="0" marL="0">
                        <a:buNone/>
                      </a:pPr>
                      <a:r>
                        <a:rPr lang="en-US" sz="1200" b="1" dirty="0">
                          <a:solidFill>
                            <a:srgbClr val="1F2A44"/>
                          </a:solidFill>
                          <a:latin typeface="Calibri" pitchFamily="34" charset="0"/>
                          <a:ea typeface="Calibri" pitchFamily="34" charset="-122"/>
                          <a:cs typeface="Calibri" pitchFamily="34" charset="-120"/>
                        </a:rPr>
                        <a:t>Rs 264,000</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r>
              <a:tr h="310896">
                <a:tc>
                  <a:txBody>
                    <a:bodyPr/>
                    <a:lstStyle/>
                    <a:p>
                      <a:pPr indent="0" marL="0">
                        <a:buNone/>
                      </a:pPr>
                      <a:r>
                        <a:rPr lang="en-US" sz="1200" dirty="0">
                          <a:solidFill>
                            <a:srgbClr val="344054"/>
                          </a:solidFill>
                          <a:latin typeface="Calibri" pitchFamily="34" charset="0"/>
                          <a:ea typeface="Calibri" pitchFamily="34" charset="-122"/>
                          <a:cs typeface="Calibri" pitchFamily="34" charset="-120"/>
                        </a:rPr>
                        <a:t>Weighted P10</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c>
                  <a:txBody>
                    <a:bodyPr/>
                    <a:lstStyle/>
                    <a:p>
                      <a:pPr algn="r" indent="0" marL="0">
                        <a:buNone/>
                      </a:pPr>
                      <a:r>
                        <a:rPr lang="en-US" sz="1200" b="1" dirty="0">
                          <a:solidFill>
                            <a:srgbClr val="1F2A44"/>
                          </a:solidFill>
                          <a:latin typeface="Calibri" pitchFamily="34" charset="0"/>
                          <a:ea typeface="Calibri" pitchFamily="34" charset="-122"/>
                          <a:cs typeface="Calibri" pitchFamily="34" charset="-120"/>
                        </a:rPr>
                        <a:t>Rs 96,000</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r>
              <a:tr h="310896">
                <a:tc>
                  <a:txBody>
                    <a:bodyPr/>
                    <a:lstStyle/>
                    <a:p>
                      <a:pPr indent="0" marL="0">
                        <a:buNone/>
                      </a:pPr>
                      <a:r>
                        <a:rPr lang="en-US" sz="1200" dirty="0">
                          <a:solidFill>
                            <a:srgbClr val="344054"/>
                          </a:solidFill>
                          <a:latin typeface="Calibri" pitchFamily="34" charset="0"/>
                          <a:ea typeface="Calibri" pitchFamily="34" charset="-122"/>
                          <a:cs typeface="Calibri" pitchFamily="34" charset="-120"/>
                        </a:rPr>
                        <a:t>Weighted P90</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c>
                  <a:txBody>
                    <a:bodyPr/>
                    <a:lstStyle/>
                    <a:p>
                      <a:pPr algn="r" indent="0" marL="0">
                        <a:buNone/>
                      </a:pPr>
                      <a:r>
                        <a:rPr lang="en-US" sz="1200" b="1" dirty="0">
                          <a:solidFill>
                            <a:srgbClr val="1F2A44"/>
                          </a:solidFill>
                          <a:latin typeface="Calibri" pitchFamily="34" charset="0"/>
                          <a:ea typeface="Calibri" pitchFamily="34" charset="-122"/>
                          <a:cs typeface="Calibri" pitchFamily="34" charset="-120"/>
                        </a:rPr>
                        <a:t>Rs 540,000</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r>
              <a:tr h="310896">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P90 / P10</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c>
                  <a:txBody>
                    <a:bodyPr/>
                    <a:lstStyle/>
                    <a:p>
                      <a:pPr algn="r" indent="0" marL="0">
                        <a:buNone/>
                      </a:pPr>
                      <a:r>
                        <a:rPr lang="en-US" sz="1200" b="1" dirty="0">
                          <a:solidFill>
                            <a:srgbClr val="C0392B"/>
                          </a:solidFill>
                          <a:latin typeface="Calibri" pitchFamily="34" charset="0"/>
                          <a:ea typeface="Calibri" pitchFamily="34" charset="-122"/>
                          <a:cs typeface="Calibri" pitchFamily="34" charset="-120"/>
                        </a:rPr>
                        <a:t>5.62</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r>
            </a:tbl>
          </a:graphicData>
        </a:graphic>
      </p:graphicFrame>
      <p:sp>
        <p:nvSpPr>
          <p:cNvPr id="5" name="Text 1"/>
          <p:cNvSpPr txBox="1"/>
          <p:nvPr/>
        </p:nvSpPr>
        <p:spPr>
          <a:xfrm>
            <a:off x="6309360" y="3246120"/>
            <a:ext cx="2377440" cy="1097280"/>
          </a:xfrm>
          <a:prstGeom prst="rect">
            <a:avLst/>
          </a:prstGeom>
          <a:noFill/>
          <a:ln/>
        </p:spPr>
        <p:txBody>
          <a:bodyPr wrap="square" lIns="0" tIns="0" rIns="0" bIns="0" rtlCol="0" anchor="t"/>
          <a:lstStyle/>
          <a:p>
            <a:pPr indent="0" marL="0">
              <a:buNone/>
            </a:pPr>
            <a:r>
              <a:rPr lang="en-US" sz="1200" dirty="0">
                <a:solidFill>
                  <a:srgbClr val="5B6475"/>
                </a:solidFill>
              </a:rPr>
              <a:t>The weighted median is lower: over-sampled small districts here earn more, and weights shrink them back to their true size.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48640"/>
          </a:xfrm>
          <a:prstGeom prst="rect">
            <a:avLst/>
          </a:prstGeom>
          <a:noFill/>
          <a:ln/>
        </p:spPr>
        <p:txBody>
          <a:bodyPr wrap="square" lIns="0" tIns="0" rIns="0" bIns="0" rtlCol="0" anchor="t"/>
          <a:lstStyle/>
          <a:p>
            <a:pPr algn="l" indent="0" marL="0">
              <a:buNone/>
            </a:pPr>
            <a:r>
              <a:rPr lang="en-US" sz="2400" b="1" dirty="0">
                <a:solidFill>
                  <a:schemeClr val="tx2"/>
                </a:solidFill>
                <a:latin typeface="+mj-lt" pitchFamily="34" charset="0"/>
                <a:ea typeface="+mj-lt" pitchFamily="34" charset="-122"/>
                <a:cs typeface="+mj-lt" pitchFamily="34" charset="-120"/>
              </a:rPr>
              <a:t>Makeover: R's default scatterplot and its redesign</a:t>
            </a:r>
            <a:endParaRPr lang="en-US" sz="2400" dirty="0"/>
          </a:p>
        </p:txBody>
      </p:sp>
      <p:sp>
        <p:nvSpPr>
          <p:cNvPr id="3" name="Text 1"/>
          <p:cNvSpPr txBox="1"/>
          <p:nvPr/>
        </p:nvSpPr>
        <p:spPr>
          <a:xfrm>
            <a:off x="457200" y="960120"/>
            <a:ext cx="3977640" cy="274320"/>
          </a:xfrm>
          <a:prstGeom prst="rect">
            <a:avLst/>
          </a:prstGeom>
          <a:noFill/>
          <a:ln/>
        </p:spPr>
        <p:txBody>
          <a:bodyPr wrap="square" lIns="0" tIns="0" rIns="0" bIns="0" rtlCol="0" anchor="ctr"/>
          <a:lstStyle/>
          <a:p>
            <a:pPr indent="0" marL="0">
              <a:buNone/>
            </a:pPr>
            <a:r>
              <a:rPr lang="en-US" sz="1300" b="1" dirty="0">
                <a:solidFill>
                  <a:srgbClr val="5B6475"/>
                </a:solidFill>
              </a:rPr>
              <a:t>Default</a:t>
            </a:r>
            <a:endParaRPr lang="en-US" sz="1300" dirty="0"/>
          </a:p>
        </p:txBody>
      </p:sp>
      <p:sp>
        <p:nvSpPr>
          <p:cNvPr id="4" name="Text 2"/>
          <p:cNvSpPr txBox="1"/>
          <p:nvPr/>
        </p:nvSpPr>
        <p:spPr>
          <a:xfrm>
            <a:off x="4709160" y="960120"/>
            <a:ext cx="3977640" cy="274320"/>
          </a:xfrm>
          <a:prstGeom prst="rect">
            <a:avLst/>
          </a:prstGeom>
          <a:noFill/>
          <a:ln/>
        </p:spPr>
        <p:txBody>
          <a:bodyPr wrap="square" lIns="0" tIns="0" rIns="0" bIns="0" rtlCol="0" anchor="ctr"/>
          <a:lstStyle/>
          <a:p>
            <a:pPr indent="0" marL="0">
              <a:buNone/>
            </a:pPr>
            <a:r>
              <a:rPr lang="en-US" sz="1300" b="1" dirty="0">
                <a:solidFill>
                  <a:srgbClr val="1F2A44"/>
                </a:solidFill>
              </a:rPr>
              <a:t>Redesign</a:t>
            </a:r>
            <a:endParaRPr lang="en-US" sz="1300" dirty="0"/>
          </a:p>
        </p:txBody>
      </p:sp>
      <p:pic>
        <p:nvPicPr>
          <p:cNvPr id="5" name="fig default" descr="R default scatterplot of earnings against ag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1280160"/>
            <a:ext cx="3977640" cy="2843784"/>
          </a:xfrm>
          <a:prstGeom prst="rect">
            <a:avLst/>
          </a:prstGeom>
        </p:spPr>
      </p:pic>
      <p:pic>
        <p:nvPicPr>
          <p:cNvPr id="6" name="fig redesign" descr="Redesigned figure: log scale, transparent jittered points, weighted band means">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09160" y="1325880"/>
            <a:ext cx="3977640" cy="2651760"/>
          </a:xfrm>
          <a:prstGeom prst="rect">
            <a:avLst/>
          </a:prstGeom>
        </p:spPr>
      </p:pic>
      <p:sp>
        <p:nvSpPr>
          <p:cNvPr id="7" name="Text 3"/>
          <p:cNvSpPr txBox="1"/>
          <p:nvPr/>
        </p:nvSpPr>
        <p:spPr>
          <a:xfrm>
            <a:off x="457200" y="4343400"/>
            <a:ext cx="2697480" cy="320040"/>
          </a:xfrm>
          <a:prstGeom prst="rect">
            <a:avLst/>
          </a:prstGeom>
          <a:noFill/>
          <a:ln/>
        </p:spPr>
        <p:txBody>
          <a:bodyPr wrap="square" lIns="0" tIns="0" rIns="0" bIns="0" rtlCol="0" anchor="ctr"/>
          <a:lstStyle/>
          <a:p>
            <a:pPr indent="0" marL="0">
              <a:buNone/>
            </a:pPr>
            <a:r>
              <a:rPr lang="en-US" sz="1200" b="1" dirty="0">
                <a:solidFill>
                  <a:srgbClr val="C0392B"/>
                </a:solidFill>
              </a:rPr>
              <a:t>1  </a:t>
            </a:r>
            <a:pPr indent="0" marL="0">
              <a:buNone/>
            </a:pPr>
            <a:r>
              <a:rPr lang="en-US" sz="1200" b="1" dirty="0">
                <a:solidFill>
                  <a:srgbClr val="1F2A44"/>
                </a:solidFill>
              </a:rPr>
              <a:t>Log scale</a:t>
            </a:r>
            <a:pPr indent="0" marL="0">
              <a:buNone/>
            </a:pPr>
            <a:r>
              <a:rPr lang="en-US" sz="1200" dirty="0">
                <a:solidFill>
                  <a:srgbClr val="5B6475"/>
                </a:solidFill>
              </a:rPr>
              <a:t> in rupees, not 3e+06</a:t>
            </a:r>
            <a:endParaRPr lang="en-US" sz="1200" dirty="0"/>
          </a:p>
        </p:txBody>
      </p:sp>
      <p:sp>
        <p:nvSpPr>
          <p:cNvPr id="8" name="Text 4"/>
          <p:cNvSpPr txBox="1"/>
          <p:nvPr/>
        </p:nvSpPr>
        <p:spPr>
          <a:xfrm>
            <a:off x="3246120" y="4343400"/>
            <a:ext cx="2697480" cy="320040"/>
          </a:xfrm>
          <a:prstGeom prst="rect">
            <a:avLst/>
          </a:prstGeom>
          <a:noFill/>
          <a:ln/>
        </p:spPr>
        <p:txBody>
          <a:bodyPr wrap="square" lIns="0" tIns="0" rIns="0" bIns="0" rtlCol="0" anchor="ctr"/>
          <a:lstStyle/>
          <a:p>
            <a:pPr indent="0" marL="0">
              <a:buNone/>
            </a:pPr>
            <a:r>
              <a:rPr lang="en-US" sz="1200" b="1" dirty="0">
                <a:solidFill>
                  <a:srgbClr val="C0392B"/>
                </a:solidFill>
              </a:rPr>
              <a:t>2  </a:t>
            </a:r>
            <a:pPr indent="0" marL="0">
              <a:buNone/>
            </a:pPr>
            <a:r>
              <a:rPr lang="en-US" sz="1200" b="1" dirty="0">
                <a:solidFill>
                  <a:srgbClr val="1F2A44"/>
                </a:solidFill>
              </a:rPr>
              <a:t>Transparency + jitter</a:t>
            </a:r>
            <a:pPr indent="0" marL="0">
              <a:buNone/>
            </a:pPr>
            <a:r>
              <a:rPr lang="en-US" sz="1200" dirty="0">
                <a:solidFill>
                  <a:srgbClr val="5B6475"/>
                </a:solidFill>
              </a:rPr>
              <a:t> reveal density</a:t>
            </a:r>
            <a:endParaRPr lang="en-US" sz="1200" dirty="0"/>
          </a:p>
        </p:txBody>
      </p:sp>
      <p:sp>
        <p:nvSpPr>
          <p:cNvPr id="9" name="Text 5"/>
          <p:cNvSpPr txBox="1"/>
          <p:nvPr/>
        </p:nvSpPr>
        <p:spPr>
          <a:xfrm>
            <a:off x="6035040" y="4343400"/>
            <a:ext cx="2697480" cy="320040"/>
          </a:xfrm>
          <a:prstGeom prst="rect">
            <a:avLst/>
          </a:prstGeom>
          <a:noFill/>
          <a:ln/>
        </p:spPr>
        <p:txBody>
          <a:bodyPr wrap="square" lIns="0" tIns="0" rIns="0" bIns="0" rtlCol="0" anchor="ctr"/>
          <a:lstStyle/>
          <a:p>
            <a:pPr indent="0" marL="0">
              <a:buNone/>
            </a:pPr>
            <a:r>
              <a:rPr lang="en-US" sz="1200" b="1" dirty="0">
                <a:solidFill>
                  <a:srgbClr val="C0392B"/>
                </a:solidFill>
              </a:rPr>
              <a:t>3  </a:t>
            </a:r>
            <a:pPr indent="0" marL="0">
              <a:buNone/>
            </a:pPr>
            <a:r>
              <a:rPr lang="en-US" sz="1200" b="1" dirty="0">
                <a:solidFill>
                  <a:srgbClr val="1F2A44"/>
                </a:solidFill>
              </a:rPr>
              <a:t>Weighted band means</a:t>
            </a:r>
            <a:pPr indent="0" marL="0">
              <a:buNone/>
            </a:pPr>
            <a:r>
              <a:rPr lang="en-US" sz="1200" dirty="0">
                <a:solidFill>
                  <a:srgbClr val="5B6475"/>
                </a:solidFill>
              </a:rPr>
              <a:t> show the trend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48640"/>
          </a:xfrm>
          <a:prstGeom prst="rect">
            <a:avLst/>
          </a:prstGeom>
          <a:noFill/>
          <a:ln/>
        </p:spPr>
        <p:txBody>
          <a:bodyPr wrap="square" lIns="0" tIns="0" rIns="0" bIns="0" rtlCol="0" anchor="t"/>
          <a:lstStyle/>
          <a:p>
            <a:pPr algn="l" indent="0" marL="0">
              <a:buNone/>
            </a:pPr>
            <a:r>
              <a:rPr lang="en-US" sz="2400" b="1" dirty="0">
                <a:solidFill>
                  <a:schemeClr val="tx2"/>
                </a:solidFill>
                <a:latin typeface="+mj-lt" pitchFamily="34" charset="0"/>
                <a:ea typeface="+mj-lt" pitchFamily="34" charset="-122"/>
                <a:cs typeface="+mj-lt" pitchFamily="34" charset="-120"/>
              </a:rPr>
              <a:t>Mean earnings rise with age, but the oldest bands are thin</a:t>
            </a:r>
            <a:endParaRPr lang="en-US" sz="2400" dirty="0"/>
          </a:p>
        </p:txBody>
      </p:sp>
      <p:pic>
        <p:nvPicPr>
          <p:cNvPr id="3" name="fig finding" descr="Earnings against age with weighted band means; peak at 55-59">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960120"/>
            <a:ext cx="5349240" cy="3566160"/>
          </a:xfrm>
          <a:prstGeom prst="rect">
            <a:avLst/>
          </a:prstGeom>
        </p:spPr>
      </p:pic>
      <p:sp>
        <p:nvSpPr>
          <p:cNvPr id="4" name="Text 1"/>
          <p:cNvSpPr txBox="1"/>
          <p:nvPr/>
        </p:nvSpPr>
        <p:spPr>
          <a:xfrm>
            <a:off x="6172200" y="1051560"/>
            <a:ext cx="2514600" cy="274320"/>
          </a:xfrm>
          <a:prstGeom prst="rect">
            <a:avLst/>
          </a:prstGeom>
          <a:noFill/>
          <a:ln/>
        </p:spPr>
        <p:txBody>
          <a:bodyPr wrap="square" lIns="0" tIns="0" rIns="0" bIns="0" rtlCol="0" anchor="ctr"/>
          <a:lstStyle/>
          <a:p>
            <a:pPr indent="0" marL="0">
              <a:buNone/>
            </a:pPr>
            <a:r>
              <a:rPr lang="en-US" sz="1200" b="1" dirty="0">
                <a:solidFill>
                  <a:srgbClr val="1F2A44"/>
                </a:solidFill>
              </a:rPr>
              <a:t>Weighted mean earnings (Rs)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172200" y="1371600"/>
          <a:ext cx="2514600" cy="914400"/>
        </p:xfrm>
        <a:graphic>
          <a:graphicData uri="http://schemas.openxmlformats.org/drawingml/2006/table">
            <a:tbl>
              <a:tblPr/>
              <a:tblGrid>
                <a:gridCol w="1508760"/>
                <a:gridCol w="1005840"/>
              </a:tblGrid>
              <a:tr h="310896">
                <a:tc>
                  <a:txBody>
                    <a:bodyPr/>
                    <a:lstStyle/>
                    <a:p>
                      <a:pPr indent="0" marL="0">
                        <a:buNone/>
                      </a:pPr>
                      <a:r>
                        <a:rPr lang="en-US" sz="1200" dirty="0">
                          <a:solidFill>
                            <a:srgbClr val="344054"/>
                          </a:solidFill>
                          <a:latin typeface="Calibri" pitchFamily="34" charset="0"/>
                          <a:ea typeface="Calibri" pitchFamily="34" charset="-122"/>
                          <a:cs typeface="Calibri" pitchFamily="34" charset="-120"/>
                        </a:rPr>
                        <a:t>Ages 15–19 (thin)</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c>
                  <a:txBody>
                    <a:bodyPr/>
                    <a:lstStyle/>
                    <a:p>
                      <a:pPr algn="r" indent="0" marL="0">
                        <a:buNone/>
                      </a:pPr>
                      <a:r>
                        <a:rPr lang="en-US" sz="1200" b="1" dirty="0">
                          <a:solidFill>
                            <a:srgbClr val="1F2A44"/>
                          </a:solidFill>
                          <a:latin typeface="Calibri" pitchFamily="34" charset="0"/>
                          <a:ea typeface="Calibri" pitchFamily="34" charset="-122"/>
                          <a:cs typeface="Calibri" pitchFamily="34" charset="-120"/>
                        </a:rPr>
                        <a:t>113,382</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r>
              <a:tr h="310896">
                <a:tc>
                  <a:txBody>
                    <a:bodyPr/>
                    <a:lstStyle/>
                    <a:p>
                      <a:pPr indent="0" marL="0">
                        <a:buNone/>
                      </a:pPr>
                      <a:r>
                        <a:rPr lang="en-US" sz="1200" dirty="0">
                          <a:solidFill>
                            <a:srgbClr val="344054"/>
                          </a:solidFill>
                          <a:latin typeface="Calibri" pitchFamily="34" charset="0"/>
                          <a:ea typeface="Calibri" pitchFamily="34" charset="-122"/>
                          <a:cs typeface="Calibri" pitchFamily="34" charset="-120"/>
                        </a:rPr>
                        <a:t>Ages 25–29</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c>
                  <a:txBody>
                    <a:bodyPr/>
                    <a:lstStyle/>
                    <a:p>
                      <a:pPr algn="r" indent="0" marL="0">
                        <a:buNone/>
                      </a:pPr>
                      <a:r>
                        <a:rPr lang="en-US" sz="1200" b="1" dirty="0">
                          <a:solidFill>
                            <a:srgbClr val="1F2A44"/>
                          </a:solidFill>
                          <a:latin typeface="Calibri" pitchFamily="34" charset="0"/>
                          <a:ea typeface="Calibri" pitchFamily="34" charset="-122"/>
                          <a:cs typeface="Calibri" pitchFamily="34" charset="-120"/>
                        </a:rPr>
                        <a:t>307,994</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r>
              <a:tr h="310896">
                <a:tc>
                  <a:txBody>
                    <a:bodyPr/>
                    <a:lstStyle/>
                    <a:p>
                      <a:pPr indent="0" marL="0">
                        <a:buNone/>
                      </a:pPr>
                      <a:r>
                        <a:rPr lang="en-US" sz="1200" dirty="0">
                          <a:solidFill>
                            <a:srgbClr val="344054"/>
                          </a:solidFill>
                          <a:latin typeface="Calibri" pitchFamily="34" charset="0"/>
                          <a:ea typeface="Calibri" pitchFamily="34" charset="-122"/>
                          <a:cs typeface="Calibri" pitchFamily="34" charset="-120"/>
                        </a:rPr>
                        <a:t>Ages 45–49</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c>
                  <a:txBody>
                    <a:bodyPr/>
                    <a:lstStyle/>
                    <a:p>
                      <a:pPr algn="r" indent="0" marL="0">
                        <a:buNone/>
                      </a:pPr>
                      <a:r>
                        <a:rPr lang="en-US" sz="1200" b="1" dirty="0">
                          <a:solidFill>
                            <a:srgbClr val="1F2A44"/>
                          </a:solidFill>
                          <a:latin typeface="Calibri" pitchFamily="34" charset="0"/>
                          <a:ea typeface="Calibri" pitchFamily="34" charset="-122"/>
                          <a:cs typeface="Calibri" pitchFamily="34" charset="-120"/>
                        </a:rPr>
                        <a:t>372,723</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r>
              <a:tr h="310896">
                <a:tc>
                  <a:txBody>
                    <a:bodyPr/>
                    <a:lstStyle/>
                    <a:p>
                      <a:pPr indent="0" marL="0">
                        <a:buNone/>
                      </a:pPr>
                      <a:r>
                        <a:rPr lang="en-US" sz="1200" dirty="0">
                          <a:solidFill>
                            <a:srgbClr val="344054"/>
                          </a:solidFill>
                          <a:latin typeface="Calibri" pitchFamily="34" charset="0"/>
                          <a:ea typeface="Calibri" pitchFamily="34" charset="-122"/>
                          <a:cs typeface="Calibri" pitchFamily="34" charset="-120"/>
                        </a:rPr>
                        <a:t>Ages 50–54</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c>
                  <a:txBody>
                    <a:bodyPr/>
                    <a:lstStyle/>
                    <a:p>
                      <a:pPr algn="r" indent="0" marL="0">
                        <a:buNone/>
                      </a:pPr>
                      <a:r>
                        <a:rPr lang="en-US" sz="1200" b="1" dirty="0">
                          <a:solidFill>
                            <a:srgbClr val="1F2A44"/>
                          </a:solidFill>
                          <a:latin typeface="Calibri" pitchFamily="34" charset="0"/>
                          <a:ea typeface="Calibri" pitchFamily="34" charset="-122"/>
                          <a:cs typeface="Calibri" pitchFamily="34" charset="-120"/>
                        </a:rPr>
                        <a:t>399,250</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r>
              <a:tr h="310896">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Ages 60–64 (thin)</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c>
                  <a:txBody>
                    <a:bodyPr/>
                    <a:lstStyle/>
                    <a:p>
                      <a:pPr algn="r" indent="0" marL="0">
                        <a:buNone/>
                      </a:pPr>
                      <a:r>
                        <a:rPr lang="en-US" sz="1200" b="1" dirty="0">
                          <a:solidFill>
                            <a:srgbClr val="C0392B"/>
                          </a:solidFill>
                          <a:latin typeface="Calibri" pitchFamily="34" charset="0"/>
                          <a:ea typeface="Calibri" pitchFamily="34" charset="-122"/>
                          <a:cs typeface="Calibri" pitchFamily="34" charset="-120"/>
                        </a:rPr>
                        <a:t>476,422</a:t>
                      </a:r>
                      <a:endParaRPr lang="en-US" sz="12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0D5DD"/>
                      </a:solidFill>
                      <a:prstDash val="solid"/>
                      <a:round/>
                      <a:headEnd type="none" w="med" len="med"/>
                      <a:tailEnd type="none" w="med" len="med"/>
                    </a:lnB>
                  </a:tcPr>
                </a:tc>
              </a:tr>
            </a:tbl>
          </a:graphicData>
        </a:graphic>
      </p:graphicFrame>
      <p:sp>
        <p:nvSpPr>
          <p:cNvPr id="6" name="Text 2"/>
          <p:cNvSpPr txBox="1"/>
          <p:nvPr/>
        </p:nvSpPr>
        <p:spPr>
          <a:xfrm>
            <a:off x="6172200" y="3108960"/>
            <a:ext cx="2514600" cy="868680"/>
          </a:xfrm>
          <a:prstGeom prst="rect">
            <a:avLst/>
          </a:prstGeom>
          <a:noFill/>
          <a:ln/>
        </p:spPr>
        <p:txBody>
          <a:bodyPr wrap="square" lIns="0" tIns="0" rIns="0" bIns="0" rtlCol="0" anchor="t"/>
          <a:lstStyle/>
          <a:p>
            <a:pPr indent="0" marL="0">
              <a:buNone/>
            </a:pPr>
            <a:r>
              <a:rPr lang="en-US" sz="1200" dirty="0">
                <a:solidFill>
                  <a:srgbClr val="344054"/>
                </a:solidFill>
              </a:rPr>
              <a:t>The 60–64 peak rests on only 16 earners; among well-sampled bands the peak is 50–54. Earnings plateau near Rs 300,000 from 25 to 44.</a:t>
            </a:r>
            <a:endParaRPr lang="en-US" sz="1200" dirty="0"/>
          </a:p>
        </p:txBody>
      </p:sp>
      <p:sp>
        <p:nvSpPr>
          <p:cNvPr id="7" name="Text 3"/>
          <p:cNvSpPr txBox="1"/>
          <p:nvPr/>
        </p:nvSpPr>
        <p:spPr>
          <a:xfrm>
            <a:off x="6172200" y="4023360"/>
            <a:ext cx="2514600" cy="457200"/>
          </a:xfrm>
          <a:prstGeom prst="rect">
            <a:avLst/>
          </a:prstGeom>
          <a:noFill/>
          <a:ln/>
        </p:spPr>
        <p:txBody>
          <a:bodyPr wrap="square" lIns="0" tIns="0" rIns="0" bIns="0" rtlCol="0" anchor="t"/>
          <a:lstStyle/>
          <a:p>
            <a:pPr indent="0" marL="0">
              <a:buNone/>
            </a:pPr>
            <a:r>
              <a:rPr lang="en-US" sz="1200" i="1" dirty="0">
                <a:solidFill>
                  <a:srgbClr val="5B6475"/>
                </a:solidFill>
              </a:rPr>
              <a:t>One survey year: different cohorts, not one person ageing.</a:t>
            </a:r>
            <a:endParaRPr lang="en-US" sz="1200" dirty="0"/>
          </a:p>
        </p:txBody>
      </p:sp>
    </p:spTree>
  </p:cSld>
  <p:clrMapOvr>
    <a:masterClrMapping/>
  </p:clrMapOvr>
</p:sld>
</file>

<file path=ppt/theme/theme1.xml><?xml version="1.0" encoding="utf-8"?>
<a:theme xmlns:a="http://schemas.openxmlformats.org/drawingml/2006/main" name="ECO346">
  <a:themeElements>
    <a:clrScheme name="ECO346">
      <a:dk1>
        <a:srgbClr val="1F2328"/>
      </a:dk1>
      <a:lt1>
        <a:srgbClr val="FFFFFF"/>
      </a:lt1>
      <a:dk2>
        <a:srgbClr val="1F2A44"/>
      </a:dk2>
      <a:lt2>
        <a:srgbClr val="F2F4F7"/>
      </a:lt2>
      <a:accent1>
        <a:srgbClr val="C0392B"/>
      </a:accent1>
      <a:accent2>
        <a:srgbClr val="4C78A8"/>
      </a:accent2>
      <a:accent3>
        <a:srgbClr val="5B6475"/>
      </a:accent3>
      <a:accent4>
        <a:srgbClr val="D0D5DD"/>
      </a:accent4>
      <a:accent5>
        <a:srgbClr val="98A2B3"/>
      </a:accent5>
      <a:accent6>
        <a:srgbClr val="344054"/>
      </a:accent6>
      <a:hlink>
        <a:srgbClr val="4C78A8"/>
      </a:hlink>
      <a:folHlink>
        <a:srgbClr val="5B6475"/>
      </a:folHlink>
    </a:clrScheme>
    <a:fontScheme name="ECO34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COMSATS University Islamabad, Lahore Campus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Earnings and Age in Urban Balochistan</dc:title>
  <dc:subject>ECO346 Data Visualization Techniques for Economists, Assignment 1</dc:subject>
  <dc:creator/>
  <cp:lastModifiedBy/>
  <cp:revision>1</cp:revision>
  <dcterms:created xsi:type="dcterms:W3CDTF">2026-10-27T19:51:02Z</dcterms:created>
  <dcterms:modified xsi:type="dcterms:W3CDTF">2026-10-27T19:51:02Z</dcterms:modified>
</cp:coreProperties>
</file>